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Overlock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f8F+hagNRtjgxzw95VWgKNjHu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verlock-regular.fntdata"/><Relationship Id="rId14" Type="http://schemas.openxmlformats.org/officeDocument/2006/relationships/slide" Target="slides/slide10.xml"/><Relationship Id="rId17" Type="http://schemas.openxmlformats.org/officeDocument/2006/relationships/font" Target="fonts/Overlock-italic.fntdata"/><Relationship Id="rId16" Type="http://schemas.openxmlformats.org/officeDocument/2006/relationships/font" Target="fonts/Overlock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Overlock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db0999957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db0999957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db0999957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301208"/>
            <a:ext cx="91440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Name: Maverick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985650" y="3245774"/>
            <a:ext cx="9981600" cy="26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-US" sz="2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Team details:</a:t>
            </a:r>
            <a:endParaRPr b="1" sz="202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2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1.Vikas YK</a:t>
            </a:r>
            <a:endParaRPr sz="202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2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2.Adithya P</a:t>
            </a:r>
            <a:endParaRPr sz="202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2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3.Siddhanth K Jain</a:t>
            </a:r>
            <a:endParaRPr sz="202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2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4.Alapati Asrith</a:t>
            </a:r>
            <a:endParaRPr sz="202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"/>
              <a:buNone/>
            </a:pPr>
            <a:r>
              <a:t/>
            </a:r>
            <a:endParaRPr sz="1320"/>
          </a:p>
        </p:txBody>
      </p:sp>
      <p:sp>
        <p:nvSpPr>
          <p:cNvPr id="90" name="Google Shape;90;p1"/>
          <p:cNvSpPr txBox="1"/>
          <p:nvPr/>
        </p:nvSpPr>
        <p:spPr>
          <a:xfrm>
            <a:off x="3048000" y="3245771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817" y="310556"/>
            <a:ext cx="2305893" cy="99064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3357908" y="417905"/>
            <a:ext cx="54761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ED00"/>
                </a:solidFill>
                <a:latin typeface="Overlock"/>
                <a:ea typeface="Overlock"/>
                <a:cs typeface="Overlock"/>
                <a:sym typeface="Overlock"/>
              </a:rPr>
              <a:t>Overnight Hackathon</a:t>
            </a:r>
            <a:endParaRPr sz="4000">
              <a:solidFill>
                <a:srgbClr val="FFED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descr="Coding Club RVCE - YouTube" id="93" name="Google Shape;93;p1"/>
          <p:cNvPicPr preferRelativeResize="0"/>
          <p:nvPr/>
        </p:nvPicPr>
        <p:blipFill rotWithShape="1">
          <a:blip r:embed="rId4">
            <a:alphaModFix/>
          </a:blip>
          <a:srcRect b="16497" l="10994" r="10716" t="18800"/>
          <a:stretch/>
        </p:blipFill>
        <p:spPr>
          <a:xfrm>
            <a:off x="9217663" y="182181"/>
            <a:ext cx="1611544" cy="133190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8th Mile X Overnight Hackathon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67045" y="182181"/>
            <a:ext cx="1119019" cy="11190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"/>
          <p:cNvCxnSpPr/>
          <p:nvPr/>
        </p:nvCxnSpPr>
        <p:spPr>
          <a:xfrm>
            <a:off x="10947002" y="310556"/>
            <a:ext cx="0" cy="929735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Overlock"/>
              <a:buNone/>
            </a:pPr>
            <a:r>
              <a:rPr lang="en-US">
                <a:solidFill>
                  <a:srgbClr val="FFFF00"/>
                </a:solidFill>
                <a:latin typeface="Overlock"/>
                <a:ea typeface="Overlock"/>
                <a:cs typeface="Overlock"/>
                <a:sym typeface="Overlock"/>
              </a:rPr>
              <a:t>Problem Statement</a:t>
            </a:r>
            <a:endParaRPr>
              <a:solidFill>
                <a:srgbClr val="FFF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475075" y="1690700"/>
            <a:ext cx="107508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-US"/>
              <a:t>The instant and irreversible nature of UPI transactions has enabled rapid digital payments but has also exposed users to fast-evolving frauds such as fake payment confirmations, QR-code swaps, and social-engineering scams, which existing rule-based systems fail to detect accurately in real time</a:t>
            </a:r>
            <a:endParaRPr/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8th Mile X Overnight Hackathon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95" y="250833"/>
            <a:ext cx="1706952" cy="733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ing Club RVCE - YouTube" id="105" name="Google Shape;105;p2"/>
          <p:cNvPicPr preferRelativeResize="0"/>
          <p:nvPr/>
        </p:nvPicPr>
        <p:blipFill rotWithShape="1">
          <a:blip r:embed="rId4">
            <a:alphaModFix/>
          </a:blip>
          <a:srcRect b="16497" l="10994" r="10716" t="18800"/>
          <a:stretch/>
        </p:blipFill>
        <p:spPr>
          <a:xfrm>
            <a:off x="9821334" y="128910"/>
            <a:ext cx="1226845" cy="101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5838" y="128910"/>
            <a:ext cx="898996" cy="898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2"/>
          <p:cNvCxnSpPr/>
          <p:nvPr/>
        </p:nvCxnSpPr>
        <p:spPr>
          <a:xfrm>
            <a:off x="11205791" y="244034"/>
            <a:ext cx="0" cy="74692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Overlock"/>
              <a:buNone/>
            </a:pPr>
            <a:r>
              <a:rPr lang="en-US">
                <a:solidFill>
                  <a:srgbClr val="FFFF00"/>
                </a:solidFill>
                <a:latin typeface="Overlock"/>
                <a:ea typeface="Overlock"/>
                <a:cs typeface="Overlock"/>
                <a:sym typeface="Overlock"/>
              </a:rPr>
              <a:t>Proposed Solution</a:t>
            </a:r>
            <a:endParaRPr>
              <a:solidFill>
                <a:srgbClr val="FFF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838200" y="157968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Bookman Old Style"/>
              <a:buChar char="•"/>
            </a:pPr>
            <a:r>
              <a:rPr b="1"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Real-time AI-based UPI fraud detection system</a:t>
            </a:r>
            <a:r>
              <a:rPr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to analyze transactions instantly.</a:t>
            </a:r>
            <a:br>
              <a:rPr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Bookman Old Style"/>
              <a:buChar char="•"/>
            </a:pPr>
            <a:r>
              <a:rPr b="1"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Pre-PIN risk assessment</a:t>
            </a:r>
            <a:r>
              <a:rPr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to stop fraud before money is deducted.</a:t>
            </a:r>
            <a:br>
              <a:rPr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Bookman Old Style"/>
              <a:buChar char="•"/>
            </a:pPr>
            <a:r>
              <a:rPr b="1"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Machine learning models</a:t>
            </a:r>
            <a:r>
              <a:rPr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to detect suspicious patterns and user behavior.</a:t>
            </a:r>
            <a:br>
              <a:rPr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Bookman Old Style"/>
              <a:buChar char="•"/>
            </a:pPr>
            <a:r>
              <a:rPr b="1"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Risk-based decision system</a:t>
            </a:r>
            <a:r>
              <a:rPr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classifying transactions as SAFE, WARN, or BLOCK.</a:t>
            </a:r>
            <a:br>
              <a:rPr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Bookman Old Style"/>
              <a:buChar char="•"/>
            </a:pPr>
            <a:r>
              <a:rPr b="1"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Integration with a mock UPI app</a:t>
            </a:r>
            <a:r>
              <a:rPr lang="en-US" sz="2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to demonstrate live fraud prevention.</a:t>
            </a:r>
            <a:endParaRPr sz="25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4" name="Google Shape;11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8th Mile X Overnight Hackathon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95" y="262335"/>
            <a:ext cx="1706952" cy="733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ing Club RVCE - YouTube" id="116" name="Google Shape;116;p3"/>
          <p:cNvPicPr preferRelativeResize="0"/>
          <p:nvPr/>
        </p:nvPicPr>
        <p:blipFill rotWithShape="1">
          <a:blip r:embed="rId4">
            <a:alphaModFix/>
          </a:blip>
          <a:srcRect b="16497" l="10994" r="10716" t="18800"/>
          <a:stretch/>
        </p:blipFill>
        <p:spPr>
          <a:xfrm>
            <a:off x="9821334" y="140412"/>
            <a:ext cx="1226845" cy="101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5838" y="140412"/>
            <a:ext cx="898996" cy="898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3"/>
          <p:cNvCxnSpPr/>
          <p:nvPr/>
        </p:nvCxnSpPr>
        <p:spPr>
          <a:xfrm>
            <a:off x="11205791" y="255536"/>
            <a:ext cx="0" cy="74692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Overlock"/>
              <a:buNone/>
            </a:pPr>
            <a:r>
              <a:rPr lang="en-US">
                <a:solidFill>
                  <a:srgbClr val="FFFF00"/>
                </a:solidFill>
                <a:latin typeface="Overlock"/>
                <a:ea typeface="Overlock"/>
                <a:cs typeface="Overlock"/>
                <a:sym typeface="Overlock"/>
              </a:rPr>
              <a:t>Key Features</a:t>
            </a:r>
            <a:endParaRPr>
              <a:solidFill>
                <a:srgbClr val="FFF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Bookman Old Style"/>
              <a:buChar char="•"/>
            </a:pPr>
            <a:r>
              <a:rPr b="1"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Real-time fraud detection</a:t>
            </a:r>
            <a: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for UPI transactions using machine learning</a:t>
            </a:r>
            <a:b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3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Bookman Old Style"/>
              <a:buChar char="•"/>
            </a:pPr>
            <a:r>
              <a:rPr b="1"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Pre-PIN security layer</a:t>
            </a:r>
            <a: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that checks risk before money is transferred</a:t>
            </a:r>
            <a:b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3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Bookman Old Style"/>
              <a:buChar char="•"/>
            </a:pPr>
            <a:r>
              <a:rPr b="1"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Mock UPI application interface</a:t>
            </a:r>
            <a: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for live fraud simulation</a:t>
            </a:r>
            <a:b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3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Bookman Old Style"/>
              <a:buChar char="•"/>
            </a:pPr>
            <a:r>
              <a:rPr b="1"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Behavior-based analysis</a:t>
            </a:r>
            <a: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using amount, time, device, location, and account age</a:t>
            </a:r>
            <a:b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3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Bookman Old Style"/>
              <a:buChar char="•"/>
            </a:pPr>
            <a:r>
              <a:rPr b="1"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Automatic transaction blocking</a:t>
            </a:r>
            <a: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for high-risk cases</a:t>
            </a:r>
            <a:b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3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Bookman Old Style"/>
              <a:buChar char="•"/>
            </a:pPr>
            <a:r>
              <a:rPr b="1"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User warning for suspicious payments</a:t>
            </a:r>
            <a:r>
              <a:rPr lang="en-US" sz="23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to prevent social engineering scams</a:t>
            </a:r>
            <a:endParaRPr sz="23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5" name="Google Shape;1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8th Mile X Overnight Hackathon</a:t>
            </a:r>
            <a:endParaRPr/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95" y="256584"/>
            <a:ext cx="1706952" cy="733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ing Club RVCE - YouTube" id="127" name="Google Shape;127;p4"/>
          <p:cNvPicPr preferRelativeResize="0"/>
          <p:nvPr/>
        </p:nvPicPr>
        <p:blipFill rotWithShape="1">
          <a:blip r:embed="rId4">
            <a:alphaModFix/>
          </a:blip>
          <a:srcRect b="16497" l="10994" r="10716" t="18800"/>
          <a:stretch/>
        </p:blipFill>
        <p:spPr>
          <a:xfrm>
            <a:off x="9821334" y="134661"/>
            <a:ext cx="1226845" cy="101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5838" y="134661"/>
            <a:ext cx="898996" cy="898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4"/>
          <p:cNvCxnSpPr/>
          <p:nvPr/>
        </p:nvCxnSpPr>
        <p:spPr>
          <a:xfrm>
            <a:off x="11205791" y="249785"/>
            <a:ext cx="0" cy="74692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Overlock"/>
              <a:buNone/>
            </a:pPr>
            <a:r>
              <a:rPr lang="en-US">
                <a:solidFill>
                  <a:srgbClr val="FFFF00"/>
                </a:solidFill>
                <a:latin typeface="Overlock"/>
                <a:ea typeface="Overlock"/>
                <a:cs typeface="Overlock"/>
                <a:sym typeface="Overlock"/>
              </a:rPr>
              <a:t>System Architecture</a:t>
            </a:r>
            <a:endParaRPr>
              <a:solidFill>
                <a:srgbClr val="FFF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389675" y="1690700"/>
            <a:ext cx="115569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1.User Interface (Mock UPI App)</a:t>
            </a:r>
            <a:br>
              <a:rPr b="1"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b="1" sz="24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ookman Old Style"/>
              <a:buChar char="●"/>
            </a:pPr>
            <a:r>
              <a:rPr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Collects transaction details from user</a:t>
            </a:r>
            <a:br>
              <a:rPr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4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ookman Old Style"/>
              <a:buChar char="●"/>
            </a:pPr>
            <a:r>
              <a:rPr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Displays fraud decision before PIN entry</a:t>
            </a:r>
            <a:endParaRPr sz="24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2.Preprocessing Layer</a:t>
            </a:r>
            <a:endParaRPr b="1" sz="24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ookman Old Style"/>
              <a:buChar char="●"/>
            </a:pPr>
            <a:r>
              <a:rPr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Converts raw input into numerical features</a:t>
            </a:r>
            <a:br>
              <a:rPr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4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ookman Old Style"/>
              <a:buChar char="●"/>
            </a:pPr>
            <a:r>
              <a:rPr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Prepares data for ML mode</a:t>
            </a:r>
            <a:br>
              <a:rPr b="1" lang="en-US" sz="2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4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6" name="Google Shape;1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8th Mile X Overnight Hackathon</a:t>
            </a:r>
            <a:endParaRPr/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95" y="250833"/>
            <a:ext cx="1706952" cy="733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ing Club RVCE - YouTube" id="138" name="Google Shape;138;p5"/>
          <p:cNvPicPr preferRelativeResize="0"/>
          <p:nvPr/>
        </p:nvPicPr>
        <p:blipFill rotWithShape="1">
          <a:blip r:embed="rId4">
            <a:alphaModFix/>
          </a:blip>
          <a:srcRect b="16497" l="10994" r="10716" t="18800"/>
          <a:stretch/>
        </p:blipFill>
        <p:spPr>
          <a:xfrm>
            <a:off x="9821334" y="128910"/>
            <a:ext cx="1226845" cy="101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5838" y="128910"/>
            <a:ext cx="898996" cy="898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5"/>
          <p:cNvCxnSpPr/>
          <p:nvPr/>
        </p:nvCxnSpPr>
        <p:spPr>
          <a:xfrm>
            <a:off x="11205791" y="244034"/>
            <a:ext cx="0" cy="74692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db0999957_0_2"/>
          <p:cNvSpPr txBox="1"/>
          <p:nvPr>
            <p:ph idx="1" type="body"/>
          </p:nvPr>
        </p:nvSpPr>
        <p:spPr>
          <a:xfrm>
            <a:off x="328925" y="1425150"/>
            <a:ext cx="11863200" cy="530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3.Machine Learning Model</a:t>
            </a:r>
            <a:endParaRPr b="1" sz="26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Char char="●"/>
            </a:pPr>
            <a:r>
              <a:rPr lang="en-US" sz="2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Trained on synthetic UPI transaction data</a:t>
            </a:r>
            <a:endParaRPr sz="26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Char char="●"/>
            </a:pPr>
            <a:r>
              <a:rPr lang="en-US" sz="2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Predicts fraud risk score</a:t>
            </a:r>
            <a:endParaRPr sz="26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4.Decision Engine</a:t>
            </a:r>
            <a:endParaRPr b="1" sz="26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Char char="●"/>
            </a:pPr>
            <a:r>
              <a:rPr lang="en-US" sz="2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Applies thresholds to classify transactions</a:t>
            </a:r>
            <a:endParaRPr sz="26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4.Response Layer</a:t>
            </a:r>
            <a:endParaRPr b="1" sz="26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Char char="●"/>
            </a:pPr>
            <a:r>
              <a:rPr lang="en-US" sz="2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Shows warning or blocks transaction in real time</a:t>
            </a:r>
            <a:endParaRPr sz="26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Char char="●"/>
            </a:pPr>
            <a:r>
              <a:rPr lang="en-US" sz="2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Allows only safe transactions to proceed to PIN</a:t>
            </a:r>
            <a:endParaRPr sz="26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7" name="Google Shape;147;g3adb0999957_0_2"/>
          <p:cNvSpPr txBox="1"/>
          <p:nvPr>
            <p:ph type="title"/>
          </p:nvPr>
        </p:nvSpPr>
        <p:spPr>
          <a:xfrm>
            <a:off x="838350" y="994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Overlock"/>
              <a:buNone/>
            </a:pPr>
            <a:r>
              <a:rPr lang="en-US">
                <a:solidFill>
                  <a:srgbClr val="FFFF00"/>
                </a:solidFill>
                <a:latin typeface="Overlock"/>
                <a:ea typeface="Overlock"/>
                <a:cs typeface="Overlock"/>
                <a:sym typeface="Overlock"/>
              </a:rPr>
              <a:t>System Architecture</a:t>
            </a:r>
            <a:endParaRPr>
              <a:solidFill>
                <a:srgbClr val="FFF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Overlock"/>
              <a:buNone/>
            </a:pPr>
            <a:r>
              <a:rPr lang="en-US">
                <a:solidFill>
                  <a:srgbClr val="FFFF00"/>
                </a:solidFill>
                <a:latin typeface="Overlock"/>
                <a:ea typeface="Overlock"/>
                <a:cs typeface="Overlock"/>
                <a:sym typeface="Overlock"/>
              </a:rPr>
              <a:t>Tech Stack</a:t>
            </a:r>
            <a:endParaRPr>
              <a:solidFill>
                <a:srgbClr val="FFF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53" name="Google Shape;15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Python – For backend logic and machine learning</a:t>
            </a:r>
            <a:b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Streamlit – For the mock UPI web application (frontend)</a:t>
            </a:r>
            <a:b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Scikit-learn – For building the fraud detection ML model</a:t>
            </a:r>
            <a:b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Pandas &amp; NumPy – For data processing and feature engineering</a:t>
            </a:r>
            <a:b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ML Algorithm Used: Random Forest Classifier</a:t>
            </a: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4" name="Google Shape;15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8th Mile X Overnight Hackathon</a:t>
            </a:r>
            <a:endParaRPr/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95" y="250833"/>
            <a:ext cx="1706952" cy="733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ing Club RVCE - YouTube" id="156" name="Google Shape;156;p6"/>
          <p:cNvPicPr preferRelativeResize="0"/>
          <p:nvPr/>
        </p:nvPicPr>
        <p:blipFill rotWithShape="1">
          <a:blip r:embed="rId4">
            <a:alphaModFix/>
          </a:blip>
          <a:srcRect b="16497" l="10994" r="10716" t="18800"/>
          <a:stretch/>
        </p:blipFill>
        <p:spPr>
          <a:xfrm>
            <a:off x="9821334" y="128910"/>
            <a:ext cx="1226845" cy="101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5838" y="128910"/>
            <a:ext cx="898996" cy="898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6"/>
          <p:cNvCxnSpPr/>
          <p:nvPr/>
        </p:nvCxnSpPr>
        <p:spPr>
          <a:xfrm>
            <a:off x="11205791" y="244034"/>
            <a:ext cx="0" cy="74692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Overlock"/>
              <a:buNone/>
            </a:pPr>
            <a:r>
              <a:rPr lang="en-US">
                <a:solidFill>
                  <a:srgbClr val="FFFF00"/>
                </a:solidFill>
                <a:latin typeface="Overlock"/>
                <a:ea typeface="Overlock"/>
                <a:cs typeface="Overlock"/>
                <a:sym typeface="Overlock"/>
              </a:rPr>
              <a:t>Challenges Faced</a:t>
            </a:r>
            <a:endParaRPr>
              <a:solidFill>
                <a:srgbClr val="FFF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64" name="Google Shape;164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Bookman Old Style"/>
              <a:buChar char="•"/>
            </a:pPr>
            <a:r>
              <a:rPr b="1"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Lack of real UPI transaction data</a:t>
            </a:r>
            <a: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 due to privacy and security restrictions</a:t>
            </a:r>
            <a:b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Bookman Old Style"/>
              <a:buChar char="•"/>
            </a:pPr>
            <a:r>
              <a:rPr b="1"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Designing a realistic synthetic dataset</a:t>
            </a:r>
            <a: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 to represent real-world fraud</a:t>
            </a:r>
            <a:b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Bookman Old Style"/>
              <a:buChar char="•"/>
            </a:pPr>
            <a:r>
              <a:rPr b="1"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Severe class imbalance</a:t>
            </a:r>
            <a: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 between fraud and genuine transactions</a:t>
            </a:r>
            <a:b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Bookman Old Style"/>
              <a:buChar char="•"/>
            </a:pPr>
            <a:r>
              <a:rPr b="1"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Model tuning and threshold selection</a:t>
            </a:r>
            <a: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 to avoid all transactions being marked SAFE</a:t>
            </a:r>
            <a:br>
              <a:rPr lang="en-US" sz="25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Bookman Old Style"/>
              <a:buChar char="•"/>
            </a:pPr>
            <a:r>
              <a:rPr b="1" lang="en-US" sz="2500">
                <a:latin typeface="Bookman Old Style"/>
                <a:ea typeface="Bookman Old Style"/>
                <a:cs typeface="Bookman Old Style"/>
                <a:sym typeface="Bookman Old Style"/>
              </a:rPr>
              <a:t>Real-time integration of ML model with the mock UPI app</a:t>
            </a:r>
            <a:endParaRPr b="1" sz="25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5" name="Google Shape;16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8th Mile X Overnight Hackathon</a:t>
            </a:r>
            <a:endParaRPr/>
          </a:p>
        </p:txBody>
      </p:sp>
      <p:pic>
        <p:nvPicPr>
          <p:cNvPr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95" y="250833"/>
            <a:ext cx="1706952" cy="733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ing Club RVCE - YouTube" id="167" name="Google Shape;167;p7"/>
          <p:cNvPicPr preferRelativeResize="0"/>
          <p:nvPr/>
        </p:nvPicPr>
        <p:blipFill rotWithShape="1">
          <a:blip r:embed="rId4">
            <a:alphaModFix/>
          </a:blip>
          <a:srcRect b="16497" l="10994" r="10716" t="18800"/>
          <a:stretch/>
        </p:blipFill>
        <p:spPr>
          <a:xfrm>
            <a:off x="9821334" y="128910"/>
            <a:ext cx="1226845" cy="101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5838" y="128910"/>
            <a:ext cx="898996" cy="898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7"/>
          <p:cNvCxnSpPr/>
          <p:nvPr/>
        </p:nvCxnSpPr>
        <p:spPr>
          <a:xfrm>
            <a:off x="11205791" y="244034"/>
            <a:ext cx="0" cy="74692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Overlock"/>
              <a:buNone/>
            </a:pPr>
            <a:r>
              <a:rPr lang="en-US">
                <a:solidFill>
                  <a:srgbClr val="FFFF00"/>
                </a:solidFill>
                <a:latin typeface="Overlock"/>
                <a:ea typeface="Overlock"/>
                <a:cs typeface="Overlock"/>
                <a:sym typeface="Overlock"/>
              </a:rPr>
              <a:t>Future Scope</a:t>
            </a:r>
            <a:endParaRPr>
              <a:solidFill>
                <a:srgbClr val="FFF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245100" y="1825775"/>
            <a:ext cx="11700600" cy="48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Integration with real UPI/banking systems</a:t>
            </a:r>
            <a:r>
              <a:rPr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 for live fraud detection</a:t>
            </a:r>
            <a:br>
              <a:rPr lang="en-US" sz="23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Use of deep learning models</a:t>
            </a:r>
            <a:r>
              <a:rPr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 to improve detection accuracy</a:t>
            </a:r>
            <a:br>
              <a:rPr lang="en-US" sz="23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Real-time behavioral tracking</a:t>
            </a:r>
            <a:r>
              <a:rPr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 across multiple devices and locations</a:t>
            </a:r>
            <a:br>
              <a:rPr lang="en-US" sz="23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Multilingual alerts and voice-based warnings</a:t>
            </a:r>
            <a:r>
              <a:rPr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 for rural users</a:t>
            </a:r>
            <a:br>
              <a:rPr lang="en-US" sz="23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Bookman Old Style"/>
              <a:buChar char="●"/>
            </a:pPr>
            <a:r>
              <a:rPr b="1"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Centralized fraud database sharing between banks</a:t>
            </a:r>
            <a:br>
              <a:rPr b="1" lang="en-US" sz="23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b="1" sz="2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Deployment as a mobile application</a:t>
            </a:r>
            <a:r>
              <a:rPr lang="en-US" sz="2300">
                <a:latin typeface="Bookman Old Style"/>
                <a:ea typeface="Bookman Old Style"/>
                <a:cs typeface="Bookman Old Style"/>
                <a:sym typeface="Bookman Old Style"/>
              </a:rPr>
              <a:t> for wider user adoption</a:t>
            </a:r>
            <a:endParaRPr sz="2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6" name="Google Shape;17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8th Mile X Overnight Hackathon</a:t>
            </a:r>
            <a:endParaRPr/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95" y="250833"/>
            <a:ext cx="1706952" cy="733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ing Club RVCE - YouTube" id="178" name="Google Shape;178;p8"/>
          <p:cNvPicPr preferRelativeResize="0"/>
          <p:nvPr/>
        </p:nvPicPr>
        <p:blipFill rotWithShape="1">
          <a:blip r:embed="rId4">
            <a:alphaModFix/>
          </a:blip>
          <a:srcRect b="16497" l="10994" r="10716" t="18800"/>
          <a:stretch/>
        </p:blipFill>
        <p:spPr>
          <a:xfrm>
            <a:off x="9821334" y="128910"/>
            <a:ext cx="1226845" cy="101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5838" y="128910"/>
            <a:ext cx="898996" cy="898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8"/>
          <p:cNvCxnSpPr/>
          <p:nvPr/>
        </p:nvCxnSpPr>
        <p:spPr>
          <a:xfrm>
            <a:off x="11205791" y="244034"/>
            <a:ext cx="0" cy="74692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7000"/>
              <a:buFont typeface="Overlock"/>
              <a:buNone/>
            </a:pPr>
            <a:r>
              <a:rPr lang="en-US" sz="7000">
                <a:solidFill>
                  <a:srgbClr val="FFFF00"/>
                </a:solidFill>
                <a:latin typeface="Overlock"/>
                <a:ea typeface="Overlock"/>
                <a:cs typeface="Overlock"/>
                <a:sym typeface="Overlock"/>
              </a:rPr>
              <a:t>Thank You</a:t>
            </a:r>
            <a:endParaRPr sz="7000">
              <a:solidFill>
                <a:srgbClr val="FFF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86" name="Google Shape;18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8th Mile X Overnight Hackathon</a:t>
            </a:r>
            <a:endParaRPr/>
          </a:p>
        </p:txBody>
      </p:sp>
      <p:pic>
        <p:nvPicPr>
          <p:cNvPr id="187" name="Google Shape;1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817" y="310556"/>
            <a:ext cx="2305893" cy="990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ing Club RVCE - YouTube" id="188" name="Google Shape;188;p9"/>
          <p:cNvPicPr preferRelativeResize="0"/>
          <p:nvPr/>
        </p:nvPicPr>
        <p:blipFill rotWithShape="1">
          <a:blip r:embed="rId4">
            <a:alphaModFix/>
          </a:blip>
          <a:srcRect b="16497" l="10994" r="10716" t="18800"/>
          <a:stretch/>
        </p:blipFill>
        <p:spPr>
          <a:xfrm>
            <a:off x="9217663" y="182181"/>
            <a:ext cx="1611544" cy="133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67045" y="182181"/>
            <a:ext cx="1119019" cy="11190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9"/>
          <p:cNvCxnSpPr/>
          <p:nvPr/>
        </p:nvCxnSpPr>
        <p:spPr>
          <a:xfrm>
            <a:off x="10947002" y="310556"/>
            <a:ext cx="0" cy="929735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2025-12-01T05:54:45Z</dcterms:created>
  <dc:creator>Raghavendra Prasad B M</dc:creator>
</cp:coreProperties>
</file>